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1" r:id="rId1"/>
  </p:sld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25891364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1292598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1026488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B9F8306-BD44-4F2F-8E78-42207E5755D0}" type="datetimeFigureOut">
              <a:rPr lang="ar-EG" smtClean="0"/>
              <a:t>08/11/1440</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834509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B9F8306-BD44-4F2F-8E78-42207E5755D0}" type="datetimeFigureOut">
              <a:rPr lang="ar-EG" smtClean="0"/>
              <a:t>08/11/1440</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1244133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3"/>
          <p:cNvSpPr>
            <a:spLocks noGrp="1"/>
          </p:cNvSpPr>
          <p:nvPr>
            <p:ph type="ftr" sz="quarter" idx="11"/>
          </p:nvPr>
        </p:nvSpPr>
        <p:spPr/>
        <p:txBody>
          <a:bodyPr/>
          <a:lstStyle/>
          <a:p>
            <a:endParaRPr lang="ar-EG"/>
          </a:p>
        </p:txBody>
      </p:sp>
      <p:sp>
        <p:nvSpPr>
          <p:cNvPr id="6" name="Slide Number Placeholder 4"/>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1079793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2"/>
          <p:cNvSpPr>
            <a:spLocks noGrp="1"/>
          </p:cNvSpPr>
          <p:nvPr>
            <p:ph type="ftr" sz="quarter" idx="11"/>
          </p:nvPr>
        </p:nvSpPr>
        <p:spPr/>
        <p:txBody>
          <a:bodyPr/>
          <a:lstStyle/>
          <a:p>
            <a:endParaRPr lang="ar-EG"/>
          </a:p>
        </p:txBody>
      </p:sp>
      <p:sp>
        <p:nvSpPr>
          <p:cNvPr id="6" name="Slide Number Placeholder 3"/>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958971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5"/>
          <p:cNvSpPr>
            <a:spLocks noGrp="1"/>
          </p:cNvSpPr>
          <p:nvPr>
            <p:ph type="ftr" sz="quarter" idx="11"/>
          </p:nvPr>
        </p:nvSpPr>
        <p:spPr/>
        <p:txBody>
          <a:bodyPr/>
          <a:lstStyle/>
          <a:p>
            <a:endParaRPr lang="ar-EG"/>
          </a:p>
        </p:txBody>
      </p:sp>
      <p:sp>
        <p:nvSpPr>
          <p:cNvPr id="6" name="Slide Number Placeholder 6"/>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2701737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B9F8306-BD44-4F2F-8E78-42207E5755D0}" type="datetimeFigureOut">
              <a:rPr lang="ar-EG" smtClean="0"/>
              <a:t>08/11/1440</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415571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7B9F8306-BD44-4F2F-8E78-42207E5755D0}" type="datetimeFigureOut">
              <a:rPr lang="ar-EG" smtClean="0"/>
              <a:t>08/11/1440</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2665174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17904418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38009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1611479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4"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1545695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4"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26149643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942652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B9F8306-BD44-4F2F-8E78-42207E5755D0}" type="datetimeFigureOut">
              <a:rPr lang="ar-EG" smtClean="0"/>
              <a:t>08/11/1440</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C92B4D05-725E-4A5F-A10D-647C19E3A478}" type="slidenum">
              <a:rPr lang="ar-EG" smtClean="0"/>
              <a:t>‹#›</a:t>
            </a:fld>
            <a:endParaRPr lang="ar-EG"/>
          </a:p>
        </p:txBody>
      </p:sp>
    </p:spTree>
    <p:extLst>
      <p:ext uri="{BB962C8B-B14F-4D97-AF65-F5344CB8AC3E}">
        <p14:creationId xmlns:p14="http://schemas.microsoft.com/office/powerpoint/2010/main" val="67398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B9F8306-BD44-4F2F-8E78-42207E5755D0}" type="datetimeFigureOut">
              <a:rPr lang="ar-EG" smtClean="0"/>
              <a:t>08/11/1440</a:t>
            </a:fld>
            <a:endParaRPr lang="ar-EG"/>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ar-EG"/>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C92B4D05-725E-4A5F-A10D-647C19E3A478}" type="slidenum">
              <a:rPr lang="ar-EG" smtClean="0"/>
              <a:t>‹#›</a:t>
            </a:fld>
            <a:endParaRPr lang="ar-EG"/>
          </a:p>
        </p:txBody>
      </p:sp>
    </p:spTree>
    <p:extLst>
      <p:ext uri="{BB962C8B-B14F-4D97-AF65-F5344CB8AC3E}">
        <p14:creationId xmlns:p14="http://schemas.microsoft.com/office/powerpoint/2010/main" val="3182974307"/>
      </p:ext>
    </p:extLst>
  </p:cSld>
  <p:clrMap bg1="dk1" tx1="lt1" bg2="dk2" tx2="lt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Lst>
  <p:txStyles>
    <p:titleStyle>
      <a:lvl1pPr algn="l" defTabSz="457200" rtl="1" eaLnBrk="1" latinLnBrk="0" hangingPunct="1">
        <a:spcBef>
          <a:spcPct val="0"/>
        </a:spcBef>
        <a:buNone/>
        <a:defRPr sz="4200" b="0" i="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mma1979/web-scrapping-workshop"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channel/UC9M7dZqrA_inICuq3dSwoQg" TargetMode="External"/><Relationship Id="rId2" Type="http://schemas.openxmlformats.org/officeDocument/2006/relationships/hyperlink" Target="https://docs.seleniumhq.org/" TargetMode="External"/><Relationship Id="rId1" Type="http://schemas.openxmlformats.org/officeDocument/2006/relationships/slideLayout" Target="../slideLayouts/slideLayout2.xml"/><Relationship Id="rId4" Type="http://schemas.openxmlformats.org/officeDocument/2006/relationships/hyperlink" Target="https://www.youtube.com/playlist?list=PLvLvlVqNQGHD1XUJSYfYezvs9gLdaWHId"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a:t>
            </a:r>
            <a:r>
              <a:rPr lang="en-US" dirty="0" smtClean="0"/>
              <a:t>Scraping</a:t>
            </a:r>
            <a:endParaRPr lang="en-US" dirty="0"/>
          </a:p>
        </p:txBody>
      </p:sp>
      <p:pic>
        <p:nvPicPr>
          <p:cNvPr id="10" name="Content Placeholder 9"/>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6344" y="1271016"/>
            <a:ext cx="11265408" cy="5605272"/>
          </a:xfrm>
        </p:spPr>
      </p:pic>
    </p:spTree>
    <p:extLst>
      <p:ext uri="{BB962C8B-B14F-4D97-AF65-F5344CB8AC3E}">
        <p14:creationId xmlns:p14="http://schemas.microsoft.com/office/powerpoint/2010/main" val="5081561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ar-EG" dirty="0"/>
          </a:p>
        </p:txBody>
      </p:sp>
      <p:sp>
        <p:nvSpPr>
          <p:cNvPr id="3" name="Content Placeholder 2"/>
          <p:cNvSpPr>
            <a:spLocks noGrp="1"/>
          </p:cNvSpPr>
          <p:nvPr>
            <p:ph idx="1"/>
          </p:nvPr>
        </p:nvSpPr>
        <p:spPr/>
        <p:txBody>
          <a:bodyPr/>
          <a:lstStyle/>
          <a:p>
            <a:pPr algn="l" rtl="0" fontAlgn="base"/>
            <a:r>
              <a:rPr lang="en-US" b="1" dirty="0"/>
              <a:t>What is Web Scraping</a:t>
            </a:r>
            <a:r>
              <a:rPr lang="en-US" b="1" dirty="0" smtClean="0"/>
              <a:t>?</a:t>
            </a:r>
          </a:p>
          <a:p>
            <a:pPr algn="l" rtl="0" fontAlgn="base"/>
            <a:r>
              <a:rPr lang="en-US" b="1" dirty="0"/>
              <a:t>What do I use for web scraping?</a:t>
            </a:r>
          </a:p>
          <a:p>
            <a:pPr algn="l" rtl="0" fontAlgn="base"/>
            <a:r>
              <a:rPr lang="en-US" b="1" dirty="0"/>
              <a:t>Are there any challenges I may want to know about?</a:t>
            </a:r>
          </a:p>
          <a:p>
            <a:pPr algn="l" rtl="0" fontAlgn="base"/>
            <a:r>
              <a:rPr lang="en-US" b="1" dirty="0" smtClean="0"/>
              <a:t>What </a:t>
            </a:r>
            <a:r>
              <a:rPr lang="en-US" b="1" dirty="0"/>
              <a:t>should I </a:t>
            </a:r>
            <a:r>
              <a:rPr lang="en-US" b="1" dirty="0" smtClean="0"/>
              <a:t>do </a:t>
            </a:r>
            <a:r>
              <a:rPr lang="en-US" b="1" dirty="0"/>
              <a:t>to scrape some websites</a:t>
            </a:r>
            <a:r>
              <a:rPr lang="en-US" b="1" dirty="0" smtClean="0"/>
              <a:t>?</a:t>
            </a:r>
            <a:endParaRPr lang="en-US" b="1" dirty="0"/>
          </a:p>
          <a:p>
            <a:pPr algn="l" rtl="0" fontAlgn="base"/>
            <a:r>
              <a:rPr lang="en-US" b="1" dirty="0"/>
              <a:t>How does that look like in practice?</a:t>
            </a:r>
          </a:p>
          <a:p>
            <a:pPr algn="l" rtl="0" fontAlgn="base"/>
            <a:r>
              <a:rPr lang="en-US" b="1" dirty="0" smtClean="0"/>
              <a:t>Code Time</a:t>
            </a:r>
          </a:p>
          <a:p>
            <a:pPr algn="l" rtl="0" fontAlgn="base"/>
            <a:r>
              <a:rPr lang="en-US" b="1" dirty="0" smtClean="0"/>
              <a:t>Conclusion</a:t>
            </a:r>
          </a:p>
          <a:p>
            <a:pPr algn="l" rtl="0" fontAlgn="base"/>
            <a:r>
              <a:rPr lang="en-US" b="1" dirty="0" smtClean="0"/>
              <a:t>What’s Next?</a:t>
            </a:r>
          </a:p>
          <a:p>
            <a:pPr algn="l" rtl="0" fontAlgn="base"/>
            <a:r>
              <a:rPr lang="en-US" b="1" dirty="0" smtClean="0"/>
              <a:t>Thank You</a:t>
            </a:r>
          </a:p>
          <a:p>
            <a:pPr algn="l" rtl="0" fontAlgn="base"/>
            <a:endParaRPr lang="en-US" b="1" dirty="0" smtClean="0"/>
          </a:p>
        </p:txBody>
      </p:sp>
    </p:spTree>
    <p:extLst>
      <p:ext uri="{BB962C8B-B14F-4D97-AF65-F5344CB8AC3E}">
        <p14:creationId xmlns:p14="http://schemas.microsoft.com/office/powerpoint/2010/main" val="205899760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fontAlgn="base"/>
            <a:r>
              <a:rPr lang="en-US" b="1" dirty="0"/>
              <a:t>What is Web Scraping?</a:t>
            </a: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84725" y="2112264"/>
            <a:ext cx="6325235" cy="2889504"/>
          </a:xfrm>
        </p:spPr>
      </p:pic>
      <p:sp>
        <p:nvSpPr>
          <p:cNvPr id="4" name="Text Placeholder 3"/>
          <p:cNvSpPr>
            <a:spLocks noGrp="1"/>
          </p:cNvSpPr>
          <p:nvPr>
            <p:ph type="body" sz="half" idx="2"/>
          </p:nvPr>
        </p:nvSpPr>
        <p:spPr>
          <a:xfrm>
            <a:off x="1154953" y="3129280"/>
            <a:ext cx="3746231" cy="2895599"/>
          </a:xfrm>
        </p:spPr>
        <p:txBody>
          <a:bodyPr/>
          <a:lstStyle/>
          <a:p>
            <a:pPr algn="l" rtl="0"/>
            <a:r>
              <a:rPr lang="en-US" dirty="0" smtClean="0"/>
              <a:t>Web </a:t>
            </a:r>
            <a:r>
              <a:rPr lang="en-US" dirty="0"/>
              <a:t>scraping is an art which is use to make data gathering automated and fast. Web scraping is also known as </a:t>
            </a:r>
            <a:r>
              <a:rPr lang="en-US" i="1" dirty="0"/>
              <a:t>Web Data Extraction</a:t>
            </a:r>
            <a:r>
              <a:rPr lang="en-US" dirty="0"/>
              <a:t>, </a:t>
            </a:r>
            <a:r>
              <a:rPr lang="en-US" i="1" dirty="0"/>
              <a:t>Web Content Extraction</a:t>
            </a:r>
            <a:r>
              <a:rPr lang="en-US" dirty="0"/>
              <a:t>, </a:t>
            </a:r>
            <a:r>
              <a:rPr lang="en-US" i="1" dirty="0"/>
              <a:t>Web Harvesting</a:t>
            </a:r>
            <a:r>
              <a:rPr lang="en-US" dirty="0"/>
              <a:t>, </a:t>
            </a:r>
            <a:r>
              <a:rPr lang="en-US" i="1" dirty="0"/>
              <a:t>Web Data Grabbing</a:t>
            </a:r>
            <a:r>
              <a:rPr lang="en-US" dirty="0"/>
              <a:t>, </a:t>
            </a:r>
            <a:r>
              <a:rPr lang="en-US" i="1" dirty="0"/>
              <a:t>Web Data Mining</a:t>
            </a:r>
            <a:r>
              <a:rPr lang="en-US" dirty="0"/>
              <a:t> and </a:t>
            </a:r>
            <a:r>
              <a:rPr lang="en-US" i="1" dirty="0"/>
              <a:t>Screen Scraping</a:t>
            </a:r>
            <a:r>
              <a:rPr lang="en-US" dirty="0"/>
              <a:t>.</a:t>
            </a:r>
            <a:endParaRPr lang="ar-EG" dirty="0"/>
          </a:p>
        </p:txBody>
      </p:sp>
    </p:spTree>
    <p:extLst>
      <p:ext uri="{BB962C8B-B14F-4D97-AF65-F5344CB8AC3E}">
        <p14:creationId xmlns:p14="http://schemas.microsoft.com/office/powerpoint/2010/main" val="8359956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do I use for web scraping?</a:t>
            </a:r>
          </a:p>
        </p:txBody>
      </p:sp>
      <p:sp>
        <p:nvSpPr>
          <p:cNvPr id="3" name="Content Placeholder 2"/>
          <p:cNvSpPr>
            <a:spLocks noGrp="1"/>
          </p:cNvSpPr>
          <p:nvPr>
            <p:ph idx="1"/>
          </p:nvPr>
        </p:nvSpPr>
        <p:spPr/>
        <p:txBody>
          <a:bodyPr/>
          <a:lstStyle/>
          <a:p>
            <a:pPr algn="l" rtl="0"/>
            <a:r>
              <a:rPr lang="en-US" dirty="0"/>
              <a:t>Separate services that work through an API or have a web interface (</a:t>
            </a:r>
            <a:r>
              <a:rPr lang="en-US" dirty="0" err="1"/>
              <a:t>Embedly</a:t>
            </a:r>
            <a:r>
              <a:rPr lang="en-US" dirty="0"/>
              <a:t>, </a:t>
            </a:r>
            <a:r>
              <a:rPr lang="en-US" dirty="0" err="1"/>
              <a:t>DiffBot</a:t>
            </a:r>
            <a:r>
              <a:rPr lang="en-US" dirty="0"/>
              <a:t> etc</a:t>
            </a:r>
            <a:r>
              <a:rPr lang="en-US" dirty="0" smtClean="0"/>
              <a:t>.)</a:t>
            </a:r>
          </a:p>
          <a:p>
            <a:pPr algn="l" rtl="0"/>
            <a:r>
              <a:rPr lang="en-US" dirty="0"/>
              <a:t>Various open source projects implemented in different programming languages (Python: Goose, </a:t>
            </a:r>
            <a:r>
              <a:rPr lang="en-US" dirty="0" err="1"/>
              <a:t>Scrapy</a:t>
            </a:r>
            <a:r>
              <a:rPr lang="en-US" dirty="0"/>
              <a:t>; PHP: </a:t>
            </a:r>
            <a:r>
              <a:rPr lang="en-US" dirty="0" err="1"/>
              <a:t>Goutte</a:t>
            </a:r>
            <a:r>
              <a:rPr lang="en-US" dirty="0"/>
              <a:t>; Ruby: Readability, Morph, etc.).</a:t>
            </a:r>
          </a:p>
          <a:p>
            <a:pPr algn="l" rtl="0"/>
            <a:r>
              <a:rPr lang="en-US" dirty="0">
                <a:solidFill>
                  <a:schemeClr val="accent3"/>
                </a:solidFill>
              </a:rPr>
              <a:t>Also, you can always make your own web scraping tool. Luckily, there are plenty of libraries available. For example, you can use the </a:t>
            </a:r>
            <a:r>
              <a:rPr lang="en-US" dirty="0" err="1" smtClean="0">
                <a:solidFill>
                  <a:schemeClr val="accent3"/>
                </a:solidFill>
              </a:rPr>
              <a:t>Pyquery</a:t>
            </a:r>
            <a:r>
              <a:rPr lang="en-US" dirty="0" smtClean="0">
                <a:solidFill>
                  <a:schemeClr val="accent3"/>
                </a:solidFill>
              </a:rPr>
              <a:t> </a:t>
            </a:r>
            <a:r>
              <a:rPr lang="en-US" dirty="0">
                <a:solidFill>
                  <a:schemeClr val="accent3"/>
                </a:solidFill>
              </a:rPr>
              <a:t>library to make a </a:t>
            </a:r>
            <a:r>
              <a:rPr lang="en-US" dirty="0" smtClean="0">
                <a:solidFill>
                  <a:schemeClr val="accent3"/>
                </a:solidFill>
              </a:rPr>
              <a:t>Python-based </a:t>
            </a:r>
            <a:r>
              <a:rPr lang="en-US" dirty="0">
                <a:solidFill>
                  <a:schemeClr val="accent3"/>
                </a:solidFill>
              </a:rPr>
              <a:t>scraper.</a:t>
            </a:r>
          </a:p>
        </p:txBody>
      </p:sp>
    </p:spTree>
    <p:extLst>
      <p:ext uri="{BB962C8B-B14F-4D97-AF65-F5344CB8AC3E}">
        <p14:creationId xmlns:p14="http://schemas.microsoft.com/office/powerpoint/2010/main" val="27411435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Are there any challenges I may want to know about?</a:t>
            </a:r>
          </a:p>
        </p:txBody>
      </p:sp>
      <p:sp>
        <p:nvSpPr>
          <p:cNvPr id="3" name="Content Placeholder 2"/>
          <p:cNvSpPr>
            <a:spLocks noGrp="1"/>
          </p:cNvSpPr>
          <p:nvPr>
            <p:ph idx="1"/>
          </p:nvPr>
        </p:nvSpPr>
        <p:spPr>
          <a:xfrm>
            <a:off x="1103312" y="2052918"/>
            <a:ext cx="9732328" cy="4195481"/>
          </a:xfrm>
        </p:spPr>
        <p:txBody>
          <a:bodyPr>
            <a:normAutofit fontScale="77500" lnSpcReduction="20000"/>
          </a:bodyPr>
          <a:lstStyle/>
          <a:p>
            <a:pPr algn="l" rtl="0"/>
            <a:r>
              <a:rPr lang="en-US" dirty="0"/>
              <a:t>Most of the websites are simply different layout-wise</a:t>
            </a:r>
            <a:r>
              <a:rPr lang="en-US" dirty="0" smtClean="0"/>
              <a:t>.</a:t>
            </a:r>
          </a:p>
          <a:p>
            <a:pPr algn="l" rtl="0"/>
            <a:r>
              <a:rPr lang="en-US" dirty="0"/>
              <a:t>Amateurs or pros, not all web developers follow style guides. As a result, their code often contains various mistakes making it absolutely unreadable for scrapers.</a:t>
            </a:r>
          </a:p>
          <a:p>
            <a:pPr algn="l" rtl="0"/>
            <a:r>
              <a:rPr lang="en-US" dirty="0"/>
              <a:t>Many websites are built with HTML5 in which any element can be unique.</a:t>
            </a:r>
          </a:p>
          <a:p>
            <a:pPr algn="l" rtl="0"/>
            <a:r>
              <a:rPr lang="en-US" dirty="0"/>
              <a:t>Content copy protection, e.g. a multi-level layout, using JavaScript for content rendering, user-agent validations etc.</a:t>
            </a:r>
          </a:p>
          <a:p>
            <a:pPr algn="l" rtl="0"/>
            <a:r>
              <a:rPr lang="en-US" dirty="0"/>
              <a:t>Depending on either the season of the year or the subject of the content itself, some websites can change their layouts. Keeping up with these changes requires a lot of time and effort.</a:t>
            </a:r>
          </a:p>
          <a:p>
            <a:pPr algn="l" rtl="0"/>
            <a:r>
              <a:rPr lang="en-US" dirty="0"/>
              <a:t>The abundance of ads, floods of comments, too many navigation elements, etc.</a:t>
            </a:r>
          </a:p>
          <a:p>
            <a:pPr algn="l" rtl="0"/>
            <a:r>
              <a:rPr lang="en-US" dirty="0"/>
              <a:t>In the web page code, there can be links to the same images of different size, e.g. image preview.</a:t>
            </a:r>
          </a:p>
          <a:p>
            <a:pPr algn="l" rtl="0"/>
            <a:r>
              <a:rPr lang="en-US" dirty="0"/>
              <a:t>Since the choice of language on most of the websites is based on your location, the content may not always be displayed in English.</a:t>
            </a:r>
          </a:p>
          <a:p>
            <a:pPr algn="l" rtl="0"/>
            <a:r>
              <a:rPr lang="en-US" dirty="0"/>
              <a:t>Websites can have their own encoding that is impossible to send back with a request</a:t>
            </a:r>
            <a:r>
              <a:rPr lang="en-US" dirty="0" smtClean="0"/>
              <a:t>.</a:t>
            </a:r>
            <a:r>
              <a:rPr lang="en-US" dirty="0"/>
              <a:t/>
            </a:r>
            <a:br>
              <a:rPr lang="en-US" dirty="0"/>
            </a:br>
            <a:endParaRPr lang="en-US" dirty="0" smtClean="0"/>
          </a:p>
          <a:p>
            <a:pPr algn="l" rtl="0"/>
            <a:endParaRPr lang="en-US" dirty="0"/>
          </a:p>
        </p:txBody>
      </p:sp>
    </p:spTree>
    <p:extLst>
      <p:ext uri="{BB962C8B-B14F-4D97-AF65-F5344CB8AC3E}">
        <p14:creationId xmlns:p14="http://schemas.microsoft.com/office/powerpoint/2010/main" val="19923479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3907" y="1225296"/>
            <a:ext cx="5092906" cy="1581912"/>
          </a:xfrm>
        </p:spPr>
        <p:txBody>
          <a:bodyPr>
            <a:normAutofit fontScale="90000"/>
          </a:bodyPr>
          <a:lstStyle/>
          <a:p>
            <a:pPr rtl="0" fontAlgn="base"/>
            <a:r>
              <a:rPr lang="en-US" b="1" dirty="0"/>
              <a:t>What should I do to scrape some websites?</a:t>
            </a:r>
          </a:p>
        </p:txBody>
      </p:sp>
      <p:pic>
        <p:nvPicPr>
          <p:cNvPr id="5" name="Picture Placeholder 4"/>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22665" r="22665"/>
          <a:stretch>
            <a:fillRect/>
          </a:stretch>
        </p:blipFill>
        <p:spPr>
          <a:xfrm>
            <a:off x="6848962" y="1143000"/>
            <a:ext cx="3200400" cy="4572000"/>
          </a:xfrm>
        </p:spPr>
      </p:pic>
      <p:sp>
        <p:nvSpPr>
          <p:cNvPr id="4" name="Text Placeholder 3"/>
          <p:cNvSpPr>
            <a:spLocks noGrp="1"/>
          </p:cNvSpPr>
          <p:nvPr>
            <p:ph type="body" sz="half" idx="2"/>
          </p:nvPr>
        </p:nvSpPr>
        <p:spPr>
          <a:xfrm>
            <a:off x="1153907" y="3035808"/>
            <a:ext cx="5502925" cy="2679192"/>
          </a:xfrm>
        </p:spPr>
        <p:txBody>
          <a:bodyPr>
            <a:normAutofit/>
          </a:bodyPr>
          <a:lstStyle/>
          <a:p>
            <a:pPr marL="285750" indent="-285750" algn="l" rtl="0">
              <a:buFont typeface="Wingdings" panose="05000000000000000000" pitchFamily="2" charset="2"/>
              <a:buChar char="Ø"/>
            </a:pPr>
            <a:r>
              <a:rPr lang="en-US" dirty="0" smtClean="0"/>
              <a:t>If the number of websites you’re going to scrape the data from is small, it’s better to write your own scraper and customize it according to each specific website. The quality of the output content should be 100%.</a:t>
            </a:r>
          </a:p>
          <a:p>
            <a:pPr marL="285750" indent="-285750" algn="l" rtl="0">
              <a:buFont typeface="Wingdings" panose="05000000000000000000" pitchFamily="2" charset="2"/>
              <a:buChar char="Ø"/>
            </a:pPr>
            <a:r>
              <a:rPr lang="en-US" dirty="0"/>
              <a:t>If the number of websites to scrape goes beyond “small”, we suggest using a complex approach. In this case, the output content quality should be close to 95%.</a:t>
            </a:r>
          </a:p>
          <a:p>
            <a:pPr marL="285750" indent="-285750" algn="l" rtl="0">
              <a:buFont typeface="Wingdings" panose="05000000000000000000" pitchFamily="2" charset="2"/>
              <a:buChar char="Ø"/>
            </a:pPr>
            <a:endParaRPr lang="en-US" dirty="0"/>
          </a:p>
        </p:txBody>
      </p:sp>
    </p:spTree>
    <p:extLst>
      <p:ext uri="{BB962C8B-B14F-4D97-AF65-F5344CB8AC3E}">
        <p14:creationId xmlns:p14="http://schemas.microsoft.com/office/powerpoint/2010/main" val="2295072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that look like in practice?</a:t>
            </a:r>
            <a:endParaRPr lang="ar-EG" dirty="0"/>
          </a:p>
        </p:txBody>
      </p:sp>
      <p:sp>
        <p:nvSpPr>
          <p:cNvPr id="4" name="Content Placeholder 3"/>
          <p:cNvSpPr>
            <a:spLocks noGrp="1"/>
          </p:cNvSpPr>
          <p:nvPr>
            <p:ph sz="half" idx="2"/>
          </p:nvPr>
        </p:nvSpPr>
        <p:spPr>
          <a:xfrm>
            <a:off x="740664" y="1929384"/>
            <a:ext cx="4758987" cy="4336098"/>
          </a:xfrm>
        </p:spPr>
        <p:txBody>
          <a:bodyPr>
            <a:normAutofit/>
          </a:bodyPr>
          <a:lstStyle/>
          <a:p>
            <a:pPr marL="0" indent="0" algn="l" rtl="0">
              <a:buNone/>
            </a:pPr>
            <a:r>
              <a:rPr lang="en-US" dirty="0"/>
              <a:t>First, you would need to create a mechanism to receive HTML code with a GET request. Next, inspect the DOM structure of the website to identify the nodes containing the target data. After that, create a node processor to output the data in a normalized format. The choice of format is usually based on either your client’s requirements or your data processing preferences. For example, we use JSON. And that’s pretty much it — you can create the scraping system.</a:t>
            </a:r>
            <a:endParaRPr lang="ar-EG" dirty="0"/>
          </a:p>
        </p:txBody>
      </p:sp>
      <p:pic>
        <p:nvPicPr>
          <p:cNvPr id="9" name="Content Placeholder 8"/>
          <p:cNvPicPr>
            <a:picLocks noGrp="1" noChangeAspect="1"/>
          </p:cNvPicPr>
          <p:nvPr>
            <p:ph sz="quarter" idx="4"/>
          </p:nvPr>
        </p:nvPicPr>
        <p:blipFill>
          <a:blip r:embed="rId2" cstate="print">
            <a:extLst>
              <a:ext uri="{28A0092B-C50C-407E-A947-70E740481C1C}">
                <a14:useLocalDpi xmlns:a14="http://schemas.microsoft.com/office/drawing/2010/main" val="0"/>
              </a:ext>
            </a:extLst>
          </a:blip>
          <a:stretch>
            <a:fillRect/>
          </a:stretch>
        </p:blipFill>
        <p:spPr>
          <a:xfrm>
            <a:off x="5499651" y="1664208"/>
            <a:ext cx="6561285" cy="3696189"/>
          </a:xfrm>
        </p:spPr>
      </p:pic>
    </p:spTree>
    <p:extLst>
      <p:ext uri="{BB962C8B-B14F-4D97-AF65-F5344CB8AC3E}">
        <p14:creationId xmlns:p14="http://schemas.microsoft.com/office/powerpoint/2010/main" val="36048267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does that look like in practice?</a:t>
            </a:r>
            <a:endParaRPr lang="ar-EG" dirty="0"/>
          </a:p>
        </p:txBody>
      </p:sp>
      <p:sp>
        <p:nvSpPr>
          <p:cNvPr id="4" name="Content Placeholder 3"/>
          <p:cNvSpPr>
            <a:spLocks noGrp="1"/>
          </p:cNvSpPr>
          <p:nvPr>
            <p:ph sz="half" idx="2"/>
          </p:nvPr>
        </p:nvSpPr>
        <p:spPr/>
        <p:txBody>
          <a:bodyPr/>
          <a:lstStyle/>
          <a:p>
            <a:pPr algn="l" rtl="0"/>
            <a:r>
              <a:rPr lang="en-US" dirty="0" smtClean="0"/>
              <a:t>You need to know about CSS selectors, which will allow you to query the DOM of the HTML you have got, to get the exact values you need.</a:t>
            </a:r>
          </a:p>
          <a:p>
            <a:pPr marL="0" indent="0" algn="l" rtl="0">
              <a:buNone/>
            </a:pPr>
            <a:endParaRPr lang="ar-EG" dirty="0"/>
          </a:p>
        </p:txBody>
      </p:sp>
      <p:pic>
        <p:nvPicPr>
          <p:cNvPr id="7" name="Content Placeholder 6"/>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5654675" y="2020825"/>
            <a:ext cx="6358042" cy="3613936"/>
          </a:xfrm>
        </p:spPr>
      </p:pic>
    </p:spTree>
    <p:extLst>
      <p:ext uri="{BB962C8B-B14F-4D97-AF65-F5344CB8AC3E}">
        <p14:creationId xmlns:p14="http://schemas.microsoft.com/office/powerpoint/2010/main" val="13785508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fontAlgn="base"/>
            <a:r>
              <a:rPr lang="en-US" b="1" dirty="0"/>
              <a:t>Code Time</a:t>
            </a:r>
          </a:p>
        </p:txBody>
      </p:sp>
      <p:sp>
        <p:nvSpPr>
          <p:cNvPr id="3" name="Content Placeholder 2"/>
          <p:cNvSpPr>
            <a:spLocks noGrp="1"/>
          </p:cNvSpPr>
          <p:nvPr>
            <p:ph sz="half" idx="1"/>
          </p:nvPr>
        </p:nvSpPr>
        <p:spPr>
          <a:xfrm>
            <a:off x="646111" y="2060575"/>
            <a:ext cx="6495353" cy="984377"/>
          </a:xfrm>
        </p:spPr>
        <p:txBody>
          <a:bodyPr/>
          <a:lstStyle/>
          <a:p>
            <a:pPr marL="0" indent="0" algn="l" rtl="0">
              <a:buNone/>
            </a:pPr>
            <a:r>
              <a:rPr lang="en-US" dirty="0">
                <a:hlinkClick r:id="rId2"/>
              </a:rPr>
              <a:t>https://github.com/mma1979/web-scrapping-workshop</a:t>
            </a:r>
            <a:endParaRPr lang="ar-EG" dirty="0"/>
          </a:p>
        </p:txBody>
      </p:sp>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4736592" y="2920333"/>
            <a:ext cx="3035808" cy="3035808"/>
          </a:xfrm>
        </p:spPr>
      </p:pic>
    </p:spTree>
    <p:extLst>
      <p:ext uri="{BB962C8B-B14F-4D97-AF65-F5344CB8AC3E}">
        <p14:creationId xmlns:p14="http://schemas.microsoft.com/office/powerpoint/2010/main" val="42012182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rtl="0" fontAlgn="base"/>
            <a:r>
              <a:rPr lang="en-US" b="1" dirty="0"/>
              <a:t>What’s Next</a:t>
            </a:r>
            <a:r>
              <a:rPr lang="en-US" b="1" dirty="0" smtClean="0"/>
              <a:t>?</a:t>
            </a:r>
            <a:endParaRPr lang="en-US" b="1" dirty="0"/>
          </a:p>
        </p:txBody>
      </p:sp>
      <p:sp>
        <p:nvSpPr>
          <p:cNvPr id="3" name="Content Placeholder 2"/>
          <p:cNvSpPr>
            <a:spLocks noGrp="1"/>
          </p:cNvSpPr>
          <p:nvPr>
            <p:ph idx="1"/>
          </p:nvPr>
        </p:nvSpPr>
        <p:spPr>
          <a:xfrm>
            <a:off x="1103312" y="1764792"/>
            <a:ext cx="8946541" cy="4483607"/>
          </a:xfrm>
        </p:spPr>
        <p:txBody>
          <a:bodyPr>
            <a:normAutofit/>
          </a:bodyPr>
          <a:lstStyle/>
          <a:p>
            <a:pPr algn="l" rtl="0"/>
            <a:r>
              <a:rPr lang="en-US" dirty="0" smtClean="0"/>
              <a:t>Web Automation</a:t>
            </a:r>
          </a:p>
          <a:p>
            <a:pPr lvl="1" algn="l" rtl="0"/>
            <a:r>
              <a:rPr lang="en-US" dirty="0" smtClean="0"/>
              <a:t>By time you will find some circumstance which will required to don an action at the page to get data, so you will need </a:t>
            </a:r>
            <a:r>
              <a:rPr lang="en-US" b="1" dirty="0" smtClean="0">
                <a:hlinkClick r:id="rId2"/>
              </a:rPr>
              <a:t>Selenium</a:t>
            </a:r>
            <a:endParaRPr lang="en-US" b="1" dirty="0" smtClean="0"/>
          </a:p>
          <a:p>
            <a:pPr lvl="1" algn="l" rtl="0"/>
            <a:r>
              <a:rPr lang="en-US" dirty="0"/>
              <a:t>For this part I recommend the course Provided By my </a:t>
            </a:r>
            <a:r>
              <a:rPr lang="en-US" dirty="0" smtClean="0"/>
              <a:t>Friend </a:t>
            </a:r>
            <a:r>
              <a:rPr lang="en-US" dirty="0">
                <a:hlinkClick r:id="rId3"/>
              </a:rPr>
              <a:t>Abu </a:t>
            </a:r>
            <a:r>
              <a:rPr lang="en-US" dirty="0" smtClean="0">
                <a:hlinkClick r:id="rId3"/>
              </a:rPr>
              <a:t>Bakr </a:t>
            </a:r>
            <a:r>
              <a:rPr lang="en-US" dirty="0" err="1">
                <a:hlinkClick r:id="rId3"/>
              </a:rPr>
              <a:t>Soliman</a:t>
            </a:r>
            <a:r>
              <a:rPr lang="en-US" dirty="0">
                <a:hlinkClick r:id="rId3"/>
              </a:rPr>
              <a:t> </a:t>
            </a:r>
            <a:r>
              <a:rPr lang="en-US" dirty="0">
                <a:hlinkClick r:id="rId4"/>
              </a:rPr>
              <a:t>https://www.youtube.com/playlist?list=PLvLvlVqNQGHD1XUJSYfYezvs9gLdaWHId</a:t>
            </a:r>
            <a:endParaRPr lang="en-US" dirty="0"/>
          </a:p>
          <a:p>
            <a:pPr algn="l" rtl="0"/>
            <a:r>
              <a:rPr lang="en-US" dirty="0" smtClean="0"/>
              <a:t>Data Cleaning</a:t>
            </a:r>
          </a:p>
          <a:p>
            <a:pPr lvl="1" algn="l" rtl="0"/>
            <a:r>
              <a:rPr lang="en-US" dirty="0" smtClean="0"/>
              <a:t>You will need some NLP skills to clean your text data</a:t>
            </a:r>
          </a:p>
          <a:p>
            <a:pPr algn="l" rtl="0"/>
            <a:r>
              <a:rPr lang="en-US" dirty="0" smtClean="0"/>
              <a:t>Data Visualization</a:t>
            </a:r>
          </a:p>
          <a:p>
            <a:pPr lvl="1" algn="l" rtl="0"/>
            <a:r>
              <a:rPr lang="en-US" dirty="0" smtClean="0"/>
              <a:t>Statistics and visualization is a main part of Data Science, which will covered by my colleague Dr. </a:t>
            </a:r>
            <a:r>
              <a:rPr lang="en-US" dirty="0" err="1" smtClean="0"/>
              <a:t>Emmad</a:t>
            </a:r>
            <a:r>
              <a:rPr lang="en-US" dirty="0" smtClean="0"/>
              <a:t> </a:t>
            </a:r>
            <a:r>
              <a:rPr lang="en-US" dirty="0" err="1" smtClean="0"/>
              <a:t>Tolba</a:t>
            </a:r>
            <a:r>
              <a:rPr lang="en-US" dirty="0" smtClean="0"/>
              <a:t> in next session.</a:t>
            </a:r>
            <a:endParaRPr lang="ar-EG" dirty="0"/>
          </a:p>
        </p:txBody>
      </p:sp>
    </p:spTree>
    <p:extLst>
      <p:ext uri="{BB962C8B-B14F-4D97-AF65-F5344CB8AC3E}">
        <p14:creationId xmlns:p14="http://schemas.microsoft.com/office/powerpoint/2010/main" val="37766022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a:t>
            </a:r>
            <a:endParaRPr lang="ar-EG" dirty="0"/>
          </a:p>
        </p:txBody>
      </p:sp>
      <p:sp>
        <p:nvSpPr>
          <p:cNvPr id="3" name="Content Placeholder 2"/>
          <p:cNvSpPr>
            <a:spLocks noGrp="1"/>
          </p:cNvSpPr>
          <p:nvPr>
            <p:ph idx="1"/>
          </p:nvPr>
        </p:nvSpPr>
        <p:spPr>
          <a:xfrm>
            <a:off x="1103312" y="2052919"/>
            <a:ext cx="8946541" cy="1814994"/>
          </a:xfrm>
        </p:spPr>
        <p:txBody>
          <a:bodyPr/>
          <a:lstStyle/>
          <a:p>
            <a:pPr marL="0" indent="0" algn="l" rtl="0">
              <a:buNone/>
            </a:pPr>
            <a:r>
              <a:rPr lang="en-US" b="1" dirty="0"/>
              <a:t>Data scraping</a:t>
            </a:r>
            <a:r>
              <a:rPr lang="en-US" dirty="0"/>
              <a:t> is not an enormously complicated thing to have in your business model. In fact, it is a critical part of every company’s business operations these days. Web data extraction </a:t>
            </a:r>
            <a:r>
              <a:rPr lang="en-US" dirty="0" smtClean="0"/>
              <a:t>software </a:t>
            </a:r>
            <a:r>
              <a:rPr lang="en-US" dirty="0"/>
              <a:t>are constantly evolving to fetch more and meaningful data for better industry insights.</a:t>
            </a:r>
            <a:endParaRPr lang="ar-EG"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3312" y="3361561"/>
            <a:ext cx="8881936" cy="3462661"/>
          </a:xfrm>
          <a:prstGeom prst="rect">
            <a:avLst/>
          </a:prstGeom>
        </p:spPr>
      </p:pic>
    </p:spTree>
    <p:extLst>
      <p:ext uri="{BB962C8B-B14F-4D97-AF65-F5344CB8AC3E}">
        <p14:creationId xmlns:p14="http://schemas.microsoft.com/office/powerpoint/2010/main" val="16711283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43574"/>
            <a:ext cx="9404723" cy="1056042"/>
          </a:xfrm>
        </p:spPr>
        <p:txBody>
          <a:bodyPr/>
          <a:lstStyle/>
          <a:p>
            <a:pPr algn="ctr"/>
            <a:r>
              <a:rPr lang="en-US" dirty="0" smtClean="0"/>
              <a:t>Thank You</a:t>
            </a:r>
            <a:endParaRPr lang="ar-EG" dirty="0"/>
          </a:p>
        </p:txBody>
      </p:sp>
      <p:pic>
        <p:nvPicPr>
          <p:cNvPr id="5" name="Content Placeholder 4"/>
          <p:cNvPicPr>
            <a:picLocks noGrp="1" noChangeAspect="1"/>
          </p:cNvPicPr>
          <p:nvPr>
            <p:ph sz="half" idx="4294967295"/>
          </p:nvPr>
        </p:nvPicPr>
        <p:blipFill>
          <a:blip r:embed="rId2">
            <a:extLst>
              <a:ext uri="{28A0092B-C50C-407E-A947-70E740481C1C}">
                <a14:useLocalDpi xmlns:a14="http://schemas.microsoft.com/office/drawing/2010/main" val="0"/>
              </a:ext>
            </a:extLst>
          </a:blip>
          <a:stretch>
            <a:fillRect/>
          </a:stretch>
        </p:blipFill>
        <p:spPr>
          <a:xfrm>
            <a:off x="4666488" y="4114800"/>
            <a:ext cx="2514600" cy="2514600"/>
          </a:xfrm>
        </p:spPr>
      </p:pic>
      <p:sp>
        <p:nvSpPr>
          <p:cNvPr id="10" name="Text Placeholder 9"/>
          <p:cNvSpPr>
            <a:spLocks noGrp="1"/>
          </p:cNvSpPr>
          <p:nvPr>
            <p:ph type="body" sz="half" idx="4294967295"/>
          </p:nvPr>
        </p:nvSpPr>
        <p:spPr>
          <a:xfrm>
            <a:off x="786384" y="1420813"/>
            <a:ext cx="9963150" cy="2693987"/>
          </a:xfrm>
        </p:spPr>
        <p:txBody>
          <a:bodyPr>
            <a:normAutofit/>
          </a:bodyPr>
          <a:lstStyle/>
          <a:p>
            <a:pPr marL="0" indent="0" algn="ctr" rtl="0">
              <a:buNone/>
            </a:pPr>
            <a:r>
              <a:rPr lang="en-US" sz="2800" b="1" spc="300" dirty="0" smtClean="0">
                <a:effectLst>
                  <a:outerShdw blurRad="38100" dist="38100" dir="2700000" algn="tl">
                    <a:srgbClr val="000000">
                      <a:alpha val="43137"/>
                    </a:srgbClr>
                  </a:outerShdw>
                </a:effectLst>
              </a:rPr>
              <a:t>Mohammed </a:t>
            </a:r>
            <a:r>
              <a:rPr lang="en-US" sz="2800" b="1" spc="300" dirty="0">
                <a:effectLst>
                  <a:outerShdw blurRad="38100" dist="38100" dir="2700000" algn="tl">
                    <a:srgbClr val="000000">
                      <a:alpha val="43137"/>
                    </a:srgbClr>
                  </a:outerShdw>
                </a:effectLst>
              </a:rPr>
              <a:t>Abdelhay</a:t>
            </a:r>
          </a:p>
          <a:p>
            <a:pPr algn="l" rtl="0"/>
            <a:r>
              <a:rPr lang="en-US" sz="2400" b="1" dirty="0">
                <a:effectLst>
                  <a:outerShdw blurRad="38100" dist="38100" dir="2700000" algn="tl">
                    <a:srgbClr val="000000">
                      <a:alpha val="43137"/>
                    </a:srgbClr>
                  </a:outerShdw>
                </a:effectLst>
              </a:rPr>
              <a:t>Email: </a:t>
            </a:r>
            <a:r>
              <a:rPr lang="en-US" sz="2400" b="1" dirty="0" smtClean="0">
                <a:effectLst>
                  <a:outerShdw blurRad="38100" dist="38100" dir="2700000" algn="tl">
                    <a:srgbClr val="000000">
                      <a:alpha val="43137"/>
                    </a:srgbClr>
                  </a:outerShdw>
                </a:effectLst>
              </a:rPr>
              <a:t>      mohammed_abdelhay@pg.cu.edu.eg</a:t>
            </a:r>
            <a:endParaRPr lang="en-US" sz="2400" b="1" dirty="0">
              <a:effectLst>
                <a:outerShdw blurRad="38100" dist="38100" dir="2700000" algn="tl">
                  <a:srgbClr val="000000">
                    <a:alpha val="43137"/>
                  </a:srgbClr>
                </a:outerShdw>
              </a:effectLst>
            </a:endParaRPr>
          </a:p>
          <a:p>
            <a:pPr algn="l" rtl="0"/>
            <a:r>
              <a:rPr lang="en-US" sz="2400" b="1" dirty="0">
                <a:effectLst>
                  <a:outerShdw blurRad="38100" dist="38100" dir="2700000" algn="tl">
                    <a:srgbClr val="000000">
                      <a:alpha val="43137"/>
                    </a:srgbClr>
                  </a:outerShdw>
                </a:effectLst>
              </a:rPr>
              <a:t>Mobile: </a:t>
            </a:r>
            <a:r>
              <a:rPr lang="en-US" sz="2400" b="1" dirty="0" smtClean="0">
                <a:effectLst>
                  <a:outerShdw blurRad="38100" dist="38100" dir="2700000" algn="tl">
                    <a:srgbClr val="000000">
                      <a:alpha val="43137"/>
                    </a:srgbClr>
                  </a:outerShdw>
                </a:effectLst>
              </a:rPr>
              <a:t>   +</a:t>
            </a:r>
            <a:r>
              <a:rPr lang="en-US" sz="2400" b="1" dirty="0">
                <a:effectLst>
                  <a:outerShdw blurRad="38100" dist="38100" dir="2700000" algn="tl">
                    <a:srgbClr val="000000">
                      <a:alpha val="43137"/>
                    </a:srgbClr>
                  </a:outerShdw>
                </a:effectLst>
              </a:rPr>
              <a:t>201008983687</a:t>
            </a:r>
          </a:p>
          <a:p>
            <a:pPr algn="l" rtl="0"/>
            <a:r>
              <a:rPr lang="en-US" sz="2400" b="1" dirty="0">
                <a:effectLst>
                  <a:outerShdw blurRad="38100" dist="38100" dir="2700000" algn="tl">
                    <a:srgbClr val="000000">
                      <a:alpha val="43137"/>
                    </a:srgbClr>
                  </a:outerShdw>
                </a:effectLst>
              </a:rPr>
              <a:t>LinkedIn: </a:t>
            </a:r>
            <a:r>
              <a:rPr lang="en-US" sz="2400" b="1" dirty="0" smtClean="0">
                <a:effectLst>
                  <a:outerShdw blurRad="38100" dist="38100" dir="2700000" algn="tl">
                    <a:srgbClr val="000000">
                      <a:alpha val="43137"/>
                    </a:srgbClr>
                  </a:outerShdw>
                </a:effectLst>
              </a:rPr>
              <a:t> https</a:t>
            </a:r>
            <a:r>
              <a:rPr lang="en-US" sz="2400" b="1" dirty="0">
                <a:effectLst>
                  <a:outerShdw blurRad="38100" dist="38100" dir="2700000" algn="tl">
                    <a:srgbClr val="000000">
                      <a:alpha val="43137"/>
                    </a:srgbClr>
                  </a:outerShdw>
                </a:effectLst>
              </a:rPr>
              <a:t>://www.linkedin.com/in/mohammed-abdelhay/</a:t>
            </a:r>
          </a:p>
          <a:p>
            <a:pPr algn="l" rtl="0"/>
            <a:r>
              <a:rPr lang="en-US" sz="2400" b="1" dirty="0" smtClean="0">
                <a:effectLst>
                  <a:outerShdw blurRad="38100" dist="38100" dir="2700000" algn="tl">
                    <a:srgbClr val="000000">
                      <a:alpha val="43137"/>
                    </a:srgbClr>
                  </a:outerShdw>
                </a:effectLst>
              </a:rPr>
              <a:t>GitHub:     https</a:t>
            </a:r>
            <a:r>
              <a:rPr lang="en-US" sz="2400" b="1" dirty="0">
                <a:effectLst>
                  <a:outerShdw blurRad="38100" dist="38100" dir="2700000" algn="tl">
                    <a:srgbClr val="000000">
                      <a:alpha val="43137"/>
                    </a:srgbClr>
                  </a:outerShdw>
                </a:effectLst>
              </a:rPr>
              <a:t>://github.com/mma1979</a:t>
            </a:r>
            <a:endParaRPr lang="ar-EG"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6802238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219</TotalTime>
  <Words>664</Words>
  <Application>Microsoft Office PowerPoint</Application>
  <PresentationFormat>Widescreen</PresentationFormat>
  <Paragraphs>52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Century Gothic</vt:lpstr>
      <vt:lpstr>Times New Roman</vt:lpstr>
      <vt:lpstr>Wingdings</vt:lpstr>
      <vt:lpstr>Wingdings 3</vt:lpstr>
      <vt:lpstr>Ion</vt:lpstr>
      <vt:lpstr>Web Scraping</vt:lpstr>
      <vt:lpstr>Agenda</vt:lpstr>
      <vt:lpstr>What is Web Scraping?</vt:lpstr>
      <vt:lpstr>What do I use for web scraping?</vt:lpstr>
      <vt:lpstr>Are there any challenges I may want to know about?</vt:lpstr>
      <vt:lpstr>What should I do to scrape some websites?</vt:lpstr>
      <vt:lpstr>How does that look like in practice?</vt:lpstr>
      <vt:lpstr>How does that look like in practice?</vt:lpstr>
      <vt:lpstr>Code Time</vt:lpstr>
      <vt:lpstr>What’s Next?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Scraping Tutorial And Use Case</dc:title>
  <dc:creator>Mohammed Abdelhay</dc:creator>
  <cp:lastModifiedBy>Mohammed Abdelhay</cp:lastModifiedBy>
  <cp:revision>34</cp:revision>
  <dcterms:created xsi:type="dcterms:W3CDTF">2019-07-09T10:11:32Z</dcterms:created>
  <dcterms:modified xsi:type="dcterms:W3CDTF">2019-07-10T15:33:09Z</dcterms:modified>
</cp:coreProperties>
</file>